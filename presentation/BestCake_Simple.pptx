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BEST CAKE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AI yordamida tort buyurtma qilish platformasi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43891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98678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5B8C"/>
                </a:solidFill>
                <a:latin typeface="Calibri"/>
              </a:rPr>
              <a:t>🎨  Dizayn yarating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90288"/>
            <a:ext cx="43891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5B8C"/>
                </a:solidFill>
                <a:latin typeface="Calibri"/>
              </a:rPr>
              <a:t>📦  3D ko'ring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48656"/>
            <a:ext cx="43891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303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5B8C"/>
                </a:solidFill>
                <a:latin typeface="Calibri"/>
              </a:rPr>
              <a:t>🛒  Tez buyurtma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82880"/>
            <a:ext cx="667512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8016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7A"/>
                </a:solidFill>
                <a:latin typeface="Calibri"/>
              </a:rPr>
              <a:t>MUAMMO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Nega tort buyurtma qilish hanuz qiyin?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943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95B8C"/>
                </a:solidFill>
                <a:latin typeface="Calibri"/>
              </a:rPr>
              <a:t>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Mijoz va qandolatchi bir-birini tushunmaydi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5943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95B8C"/>
                </a:solidFill>
                <a:latin typeface="Calibri"/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Allergiya chaqiruvchi ingredientlar nazorat qilinmaydi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5943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95B8C"/>
                </a:solidFill>
                <a:latin typeface="Calibri"/>
              </a:rPr>
              <a:t>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389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Buyurtma berish ko'p vaqt oladi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03520"/>
            <a:ext cx="5943600" cy="118872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Natija: Norozi mijozlar, isrof vaqt, qo'shimcha xarajatlar</a:t>
            </a:r>
          </a:p>
        </p:txBody>
      </p:sp>
      <p:pic>
        <p:nvPicPr>
          <p:cNvPr id="18" name="Picture 1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2120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8016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7A"/>
                </a:solidFill>
                <a:latin typeface="Calibri"/>
              </a:rPr>
              <a:t>YECHIM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AI + 3D + Tez buyurtma tizimi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95B8C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3E7A"/>
                </a:solidFill>
                <a:latin typeface="Calibri"/>
              </a:rPr>
              <a:t>AI tavsiyalari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Dizayn, ta'm va ingredientlar bo'yicha aqlli maslahat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95B8C"/>
                </a:solidFill>
                <a:latin typeface="Calibri"/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3E7A"/>
                </a:solidFill>
                <a:latin typeface="Calibri"/>
              </a:rPr>
              <a:t>3D ko'rish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Tortni buyurtmadan oldin 3D formatda ko'rib chiqing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95B8C"/>
                </a:solidFill>
                <a:latin typeface="Calibri"/>
              </a:rPr>
              <a:t>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72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3E7A"/>
                </a:solidFill>
                <a:latin typeface="Calibri"/>
              </a:rPr>
              <a:t>Tez buyurtma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Bir necha soniyada buyurtma bering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52160"/>
            <a:ext cx="5943600" cy="685800"/>
          </a:xfrm>
          <a:prstGeom prst="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Natija: Aniq va qulay tort buyurtmasi</a:t>
            </a:r>
          </a:p>
        </p:txBody>
      </p:sp>
      <p:pic>
        <p:nvPicPr>
          <p:cNvPr id="21" name="Picture 20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2120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8016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7A"/>
                </a:solidFill>
                <a:latin typeface="Calibri"/>
              </a:rPr>
              <a:t>QANDAY ISHLAYDI?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Orzuingizdagi tortni 5 qadamda yarating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45920"/>
            <a:ext cx="502920" cy="50292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94560"/>
            <a:ext cx="21031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7A"/>
                </a:solidFill>
                <a:latin typeface="Calibri"/>
              </a:rPr>
              <a:t>Tort turini
tanlang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5B8C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645920"/>
            <a:ext cx="502920" cy="50292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194560"/>
            <a:ext cx="21031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331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7A"/>
                </a:solidFill>
                <a:latin typeface="Calibri"/>
              </a:rPr>
              <a:t>Ta'mlarni
tanlang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5B8C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645920"/>
            <a:ext cx="502920" cy="50292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2194560"/>
            <a:ext cx="21031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331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7A"/>
                </a:solidFill>
                <a:latin typeface="Calibri"/>
              </a:rPr>
              <a:t>Dizayn
yarating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5B8C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645920"/>
            <a:ext cx="502920" cy="50292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194560"/>
            <a:ext cx="21031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331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7A"/>
                </a:solidFill>
                <a:latin typeface="Calibri"/>
              </a:rPr>
              <a:t>AI maslahat
oling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5B8C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645920"/>
            <a:ext cx="502920" cy="50292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2194560"/>
            <a:ext cx="21031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331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7A"/>
                </a:solidFill>
                <a:latin typeface="Calibri"/>
              </a:rPr>
              <a:t>3D ko'ring va
buyurtma bering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394960"/>
            <a:ext cx="11430000" cy="109728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Tasavvur qiling → Yarating → Bir necha soniyada buyurtma bering 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8016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7A"/>
                </a:solidFill>
                <a:latin typeface="Calibri"/>
              </a:rPr>
              <a:t>RAQOBATCHILAR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Boshgalar qisman yechim – BEST CAKE to'liq!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2697480" cy="4572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Xususiyat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57400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21488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Dizayn ko'rish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62072"/>
            <a:ext cx="2697480" cy="749808"/>
          </a:xfrm>
          <a:prstGeom prst="rect">
            <a:avLst/>
          </a:prstGeom>
          <a:solidFill>
            <a:srgbClr val="FBFBFB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295351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AI tavsiyalari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666744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75818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Buyurtma tizimi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471416"/>
            <a:ext cx="2697480" cy="749808"/>
          </a:xfrm>
          <a:prstGeom prst="rect">
            <a:avLst/>
          </a:prstGeom>
          <a:solidFill>
            <a:srgbClr val="FBFBFB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Allergiya nazorati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276088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536752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Shaxsiylashtirish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554480"/>
            <a:ext cx="2423160" cy="457200"/>
          </a:xfrm>
          <a:prstGeom prst="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BEST CAKE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057400"/>
            <a:ext cx="24231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82112" y="214884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7A"/>
                </a:solidFill>
                <a:latin typeface="Calibri"/>
              </a:rPr>
              <a:t>✅ 3D real vaqt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862072"/>
            <a:ext cx="24231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95351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7A"/>
                </a:solidFill>
                <a:latin typeface="Calibri"/>
              </a:rPr>
              <a:t>✅ Dizayn+ta'm+allergiya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666744"/>
            <a:ext cx="24231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2112" y="3758184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7A"/>
                </a:solidFill>
                <a:latin typeface="Calibri"/>
              </a:rPr>
              <a:t>✅ To'liq avtomatik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471416"/>
            <a:ext cx="24231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82112" y="4562856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7A"/>
                </a:solidFill>
                <a:latin typeface="Calibri"/>
              </a:rPr>
              <a:t>✅ Mavjud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5276088"/>
            <a:ext cx="24231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82112" y="5367528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7A"/>
                </a:solidFill>
                <a:latin typeface="Calibri"/>
              </a:rPr>
              <a:t>✅ End-to-end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1554480"/>
            <a:ext cx="2697480" cy="4572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Midjourney/DALL-E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60" y="2057400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96712" y="21488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✅ Rasm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2862072"/>
            <a:ext cx="2697480" cy="749808"/>
          </a:xfrm>
          <a:prstGeom prst="rect">
            <a:avLst/>
          </a:prstGeom>
          <a:solidFill>
            <a:srgbClr val="FBFBFB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96712" y="295351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⚠️ Faqat rasm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3666744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96712" y="375818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❌ Yo'q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4471416"/>
            <a:ext cx="2697480" cy="749808"/>
          </a:xfrm>
          <a:prstGeom prst="rect">
            <a:avLst/>
          </a:prstGeom>
          <a:solidFill>
            <a:srgbClr val="FBFBFB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96712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❌ Yo'q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5276088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96712" y="536752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⚠️ Vizual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1554480"/>
            <a:ext cx="3154680" cy="4572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An'anaviy qandolatchilar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2057400"/>
            <a:ext cx="3154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214884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❌ Yo'q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2862072"/>
            <a:ext cx="3154680" cy="749808"/>
          </a:xfrm>
          <a:prstGeom prst="rect">
            <a:avLst/>
          </a:prstGeom>
          <a:solidFill>
            <a:srgbClr val="FBFBFB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5632" y="295351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❌ Yo'q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3666744"/>
            <a:ext cx="3154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5632" y="3758184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⚠️ Qo'lda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4471416"/>
            <a:ext cx="3154680" cy="749808"/>
          </a:xfrm>
          <a:prstGeom prst="rect">
            <a:avLst/>
          </a:prstGeom>
          <a:solidFill>
            <a:srgbClr val="FBFBFB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85632" y="4562856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❌ Yo'q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5276088"/>
            <a:ext cx="3154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85632" y="536752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⚠️ Cheklangan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8016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7A"/>
                </a:solidFill>
                <a:latin typeface="Calibri"/>
              </a:rPr>
              <a:t>BOZOR IMKONIYATI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Best Cake potensiali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474720" cy="502920"/>
          </a:xfrm>
          <a:prstGeom prst="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078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Global bozor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3E7A"/>
                </a:solidFill>
                <a:latin typeface="Calibri"/>
              </a:rPr>
              <a:t>$150+ mlrd/yil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64592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3474720" cy="50292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70078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O'zbekiston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5B8C"/>
                </a:solidFill>
                <a:latin typeface="Calibri"/>
              </a:rPr>
              <a:t>$500M+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64592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4747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0078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Bizning ulush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7AE60"/>
                </a:solidFill>
                <a:latin typeface="Calibri"/>
              </a:rPr>
              <a:t>$50–75M/yil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7A"/>
                </a:solidFill>
                <a:latin typeface="Calibri"/>
              </a:rPr>
              <a:t>Hozirgi asosiy muammolar: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94960"/>
            <a:ext cx="3566160" cy="822960"/>
          </a:xfrm>
          <a:prstGeom prst="rect">
            <a:avLst/>
          </a:prstGeom>
          <a:solidFill>
            <a:srgbClr val="FFEEEE"/>
          </a:solidFill>
          <a:ln w="1270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❌ AI/3D yechim yo'q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5394960"/>
            <a:ext cx="3566160" cy="822960"/>
          </a:xfrm>
          <a:prstGeom prst="rect">
            <a:avLst/>
          </a:prstGeom>
          <a:solidFill>
            <a:srgbClr val="FFEEEE"/>
          </a:solidFill>
          <a:ln w="1270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5440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❌ Allergiya nazorati yo'q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5394960"/>
            <a:ext cx="3566160" cy="822960"/>
          </a:xfrm>
          <a:prstGeom prst="rect">
            <a:avLst/>
          </a:prstGeom>
          <a:solidFill>
            <a:srgbClr val="FFEEEE"/>
          </a:solidFill>
          <a:ln w="1270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54406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❌ Buyurtma murakkab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8016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7A"/>
                </a:solidFill>
                <a:latin typeface="Calibri"/>
              </a:rPr>
              <a:t>DAROMAD MODELI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Best Cake qanday pul ishlaydi?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02920" cy="192024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Buyurtma komissiyasi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Tortlardan 10%
Fast food dan 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645920"/>
            <a:ext cx="502920" cy="1920240"/>
          </a:xfrm>
          <a:prstGeom prst="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2402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Premium hamkorlik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2860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Qandolatchi uchun 'TOP LIST'
Ko'proq ko'rinish = ko'proq buyurtma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502920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348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AI Analytics xizmatlari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Sotuv, talab va trend tahlillari
Qandolatchilar uchun biznes maslahat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84048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840480"/>
            <a:ext cx="502920" cy="1920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4348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Reklama va Boost tizimi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4805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Mahsulotni oldinga chiqarish
Maqsadli reklama joylash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"Biz faqat buyurtma qilmaymiz — biznesni o'stiramiz!"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8016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7A"/>
                </a:solidFill>
                <a:latin typeface="Calibri"/>
              </a:rPr>
              <a:t>MILESTONES &amp;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Best Cake rivojlanish yo'li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657600" cy="54864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🚀 MVP  (0–1 oy)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286000"/>
            <a:ext cx="3429000" cy="658368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377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100–300 foydalanuvchi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3090672"/>
            <a:ext cx="3429000" cy="658368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1821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10–20 hamkor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895344"/>
            <a:ext cx="3429000" cy="658368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98678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300–700 buyurtma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4700016"/>
            <a:ext cx="3429000" cy="658368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7914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$300–$1,000 daromad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📈 6 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1031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2286000"/>
            <a:ext cx="3429000" cy="65836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2377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5,000–10,000 foydalanuvchi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1688" y="3090672"/>
            <a:ext cx="3429000" cy="65836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31821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100+ hamkor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3895344"/>
            <a:ext cx="3429000" cy="65836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398678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15,000+ buyurtma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4700016"/>
            <a:ext cx="3429000" cy="658368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8" y="47914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$10K–$25K daromad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554480"/>
            <a:ext cx="36576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🌍 3 YIL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21031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47888" y="2286000"/>
            <a:ext cx="3429000" cy="658368"/>
          </a:xfrm>
          <a:prstGeom prst="rect">
            <a:avLst/>
          </a:prstGeom>
          <a:solidFill>
            <a:srgbClr val="EEF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2377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200,000+ foydalanuvchi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3090672"/>
            <a:ext cx="3429000" cy="658368"/>
          </a:xfrm>
          <a:prstGeom prst="rect">
            <a:avLst/>
          </a:prstGeom>
          <a:solidFill>
            <a:srgbClr val="EEF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31821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1,000+ hamkor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3895344"/>
            <a:ext cx="3429000" cy="658368"/>
          </a:xfrm>
          <a:prstGeom prst="rect">
            <a:avLst/>
          </a:prstGeom>
          <a:solidFill>
            <a:srgbClr val="EEF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8" y="398678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1,000,000+ buyurtma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47888" y="4700016"/>
            <a:ext cx="3429000" cy="658368"/>
          </a:xfrm>
          <a:prstGeom prst="rect">
            <a:avLst/>
          </a:prstGeom>
          <a:solidFill>
            <a:srgbClr val="EEF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8" y="47914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$1M+ yillik daromad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852160"/>
            <a:ext cx="11430000" cy="731520"/>
          </a:xfrm>
          <a:prstGeom prst="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9253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BEST CAKE — kichik MVPdan global AI marketplacegacha o'sadigan platforma 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8016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7A"/>
                </a:solidFill>
                <a:latin typeface="Calibri"/>
              </a:rPr>
              <a:t>BIZNING JAMOA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Best Cake ortidagi odamlar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743200" cy="22860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18288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572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Umidjon Odiljonov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66360"/>
            <a:ext cx="2194560" cy="457200"/>
          </a:xfrm>
          <a:prstGeom prst="rect">
            <a:avLst/>
          </a:prstGeom>
          <a:solidFill>
            <a:srgbClr val="E9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846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CEO / Loyiha rahbari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55448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554480"/>
            <a:ext cx="2743200" cy="228600"/>
          </a:xfrm>
          <a:prstGeom prst="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920240"/>
            <a:ext cx="1828800" cy="2468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83280" y="4572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Sardorbek Albakiev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5166360"/>
            <a:ext cx="2194560" cy="457200"/>
          </a:xfrm>
          <a:prstGeom prst="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51846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CTO / Dasturchi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274320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20240"/>
            <a:ext cx="1828800" cy="2468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4572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Abdulloh Ma'murov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166360"/>
            <a:ext cx="21945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1846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Co-founder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55448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554480"/>
            <a:ext cx="2743200" cy="228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920240"/>
            <a:ext cx="1828800" cy="2468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35440" y="4572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Calibri"/>
              </a:rPr>
              <a:t>Bogdan Stadnyuk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5166360"/>
            <a:ext cx="219456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51846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Biznes analitik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