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1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200" b="1">
                <a:solidFill>
                  <a:srgbClr val="E8622B"/>
                </a:solidFill>
                <a:latin typeface="JetBrains Mono"/>
              </a:defRPr>
            </a:pPr>
            <a:r>
              <a:t>Milliy AI Hakaton: Andijon 2026</a:t>
            </a:r>
          </a:p>
          <a:p>
            <a:pPr>
              <a:spcAft>
                <a:spcPts val="1200"/>
              </a:spcAft>
              <a:defRPr sz="6400" b="1">
                <a:solidFill>
                  <a:srgbClr val="FAF7F2"/>
                </a:solidFill>
                <a:latin typeface="Playfair Display"/>
              </a:defRPr>
            </a:pPr>
            <a:r>
              <a:t>BEST Cook</a:t>
            </a:r>
          </a:p>
          <a:p>
            <a:pPr>
              <a:spcAft>
                <a:spcPts val="3600"/>
              </a:spcAft>
              <a:defRPr sz="2000">
                <a:solidFill>
                  <a:srgbClr val="AAA59F"/>
                </a:solidFill>
                <a:latin typeface="DM Sans"/>
              </a:defRPr>
            </a:pPr>
            <a:r>
              <a:t>Kelajak ovqat buyurtmasi: AI + 3D tajribasi</a:t>
            </a:r>
          </a:p>
          <a:p>
            <a:pPr>
              <a:defRPr sz="1400" b="1">
                <a:solidFill>
                  <a:srgbClr val="E8622B"/>
                </a:solidFill>
                <a:latin typeface="DM Sans"/>
              </a:defRPr>
            </a:pPr>
            <a:r>
              <a:t>✦ Immersiv Qandolatchilik Platformasi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0" y="1143000"/>
            <a:ext cx="4389120" cy="4389120"/>
          </a:xfrm>
          <a:prstGeom prst="roundRect">
            <a:avLst/>
          </a:prstGeom>
          <a:solidFill>
            <a:srgbClr val="1C1B19"/>
          </a:solidFill>
          <a:ln w="19050">
            <a:solidFill>
              <a:srgbClr val="2E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lide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234440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1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8622B"/>
                </a:solidFill>
                <a:latin typeface="JetBrains Mono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AF7F2"/>
                </a:solidFill>
                <a:latin typeface="Playfair Display"/>
              </a:defRPr>
            </a:pPr>
            <a:r>
              <a:t>MUAMMO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8622B"/>
                </a:solidFill>
                <a:latin typeface="Playfair Display"/>
              </a:defRPr>
            </a:pPr>
            <a:r>
              <a:t>Maxsus tort buyurtmasi tizimi butunlay eskirgan.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5486400" cy="1371600"/>
          </a:xfrm>
          <a:prstGeom prst="roundRect">
            <a:avLst/>
          </a:prstGeom>
          <a:solidFill>
            <a:srgbClr val="1C1B19"/>
          </a:solidFill>
          <a:ln w="19050">
            <a:solidFill>
              <a:srgbClr val="2E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622B"/>
                </a:solidFill>
                <a:latin typeface="DM Sans"/>
              </a:defRPr>
            </a:pPr>
            <a:r>
              <a:t>❌  </a:t>
            </a:r>
            <a:r>
              <a:rPr sz="1400" b="0">
                <a:solidFill>
                  <a:srgbClr val="FAF7F2"/>
                </a:solidFill>
                <a:latin typeface="DM Sans"/>
              </a:rPr>
              <a:t>Mijoz va qandolatchi tasavvuri mos kelmaydi: Yakuniy tort ko'pincha kutilgan natijadan farq qiladi.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91839"/>
            <a:ext cx="5486400" cy="1371600"/>
          </a:xfrm>
          <a:prstGeom prst="roundRect">
            <a:avLst/>
          </a:prstGeom>
          <a:solidFill>
            <a:srgbClr val="1C1B19"/>
          </a:solidFill>
          <a:ln w="19050">
            <a:solidFill>
              <a:srgbClr val="2E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383279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622B"/>
                </a:solidFill>
                <a:latin typeface="DM Sans"/>
              </a:defRPr>
            </a:pPr>
            <a:r>
              <a:t>⏳  </a:t>
            </a:r>
            <a:r>
              <a:rPr sz="1400" b="0">
                <a:solidFill>
                  <a:srgbClr val="FAF7F2"/>
                </a:solidFill>
                <a:latin typeface="DM Sans"/>
              </a:rPr>
              <a:t>Muloqot xarajatlari yuqori: Buyurtma berish jarayonida ko'p vaqt tushuntirishlarga va chatlarga sarflanadi.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846320"/>
            <a:ext cx="5486400" cy="1371600"/>
          </a:xfrm>
          <a:prstGeom prst="roundRect">
            <a:avLst/>
          </a:prstGeom>
          <a:solidFill>
            <a:srgbClr val="1C1B19"/>
          </a:solidFill>
          <a:ln w="19050">
            <a:solidFill>
              <a:srgbClr val="2E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937759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622B"/>
                </a:solidFill>
                <a:latin typeface="DM Sans"/>
              </a:defRPr>
            </a:pPr>
            <a:r>
              <a:t>⚠️  </a:t>
            </a:r>
            <a:r>
              <a:rPr sz="1400" b="0">
                <a:solidFill>
                  <a:srgbClr val="FAF7F2"/>
                </a:solidFill>
                <a:latin typeface="DM Sans"/>
              </a:rPr>
              <a:t>Allergiya xavfi: Ingredientlar tarkibi noto'g'ri tushunilishi allergik reaksiyalarga olib kelishi mumkin.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737360"/>
            <a:ext cx="4389120" cy="4389120"/>
          </a:xfrm>
          <a:prstGeom prst="roundRect">
            <a:avLst/>
          </a:prstGeom>
          <a:solidFill>
            <a:srgbClr val="1C1B19"/>
          </a:solidFill>
          <a:ln w="19050">
            <a:solidFill>
              <a:srgbClr val="2E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lide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828800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1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8622B"/>
                </a:solidFill>
                <a:latin typeface="JetBrains Mono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AF7F2"/>
                </a:solidFill>
                <a:latin typeface="Playfair Display"/>
              </a:defRPr>
            </a:pPr>
            <a:r>
              <a:t>YECHIM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8622B"/>
                </a:solidFill>
                <a:latin typeface="Playfair Display"/>
              </a:defRPr>
            </a:pPr>
            <a:r>
              <a:t>Dunyodagi birinchi immersiv tort dizayn platformasi.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876495" cy="3931920"/>
          </a:xfrm>
          <a:prstGeom prst="roundRect">
            <a:avLst/>
          </a:prstGeom>
          <a:solidFill>
            <a:srgbClr val="1C1B19"/>
          </a:solidFill>
          <a:ln w="19050">
            <a:solidFill>
              <a:srgbClr val="2E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432785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100" b="1">
                <a:solidFill>
                  <a:srgbClr val="E8622B"/>
                </a:solidFill>
                <a:latin typeface="JetBrains Mono"/>
              </a:defRPr>
            </a:pPr>
            <a:r>
              <a:t>1. IMMERSIV WEB</a:t>
            </a:r>
          </a:p>
          <a:p>
            <a:pPr>
              <a:spcAft>
                <a:spcPts val="1600"/>
              </a:spcAft>
              <a:defRPr sz="2400" b="1">
                <a:solidFill>
                  <a:srgbClr val="FAF7F2"/>
                </a:solidFill>
                <a:latin typeface="Playfair Display"/>
              </a:defRPr>
            </a:pPr>
            <a:r>
              <a:t>3D Konstruktor 🎨</a:t>
            </a:r>
          </a:p>
          <a:p>
            <a:pPr>
              <a:lnSpc>
                <a:spcPct val="130000"/>
              </a:lnSpc>
              <a:defRPr sz="1400">
                <a:solidFill>
                  <a:srgbClr val="AAA59F"/>
                </a:solidFill>
                <a:latin typeface="DM Sans"/>
              </a:defRPr>
            </a:pPr>
            <a:r>
              <a:t>Real vaqt rejimida tortni "skulpting" qilish: qavatlar soni, fondant teksturalari, bezaklar, gullar va ranglar. Mijoz nimani ko'rsa — aynan o'shani oladi (WYSIWYG).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876495" cy="3931920"/>
          </a:xfrm>
          <a:prstGeom prst="roundRect">
            <a:avLst/>
          </a:prstGeom>
          <a:solidFill>
            <a:srgbClr val="1C1B19"/>
          </a:solidFill>
          <a:ln w="19050">
            <a:solidFill>
              <a:srgbClr val="2E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32785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100" b="1">
                <a:solidFill>
                  <a:srgbClr val="E8622B"/>
                </a:solidFill>
                <a:latin typeface="JetBrains Mono"/>
              </a:defRPr>
            </a:pPr>
            <a:r>
              <a:t>2. AVTOMATLASHTIRILGAN CRM</a:t>
            </a:r>
          </a:p>
          <a:p>
            <a:pPr>
              <a:spcAft>
                <a:spcPts val="1600"/>
              </a:spcAft>
              <a:defRPr sz="2400" b="1">
                <a:solidFill>
                  <a:srgbClr val="FAF7F2"/>
                </a:solidFill>
                <a:latin typeface="Playfair Display"/>
              </a:defRPr>
            </a:pPr>
            <a:r>
              <a:t>Konditer Paneli 🍰</a:t>
            </a:r>
          </a:p>
          <a:p>
            <a:pPr>
              <a:lnSpc>
                <a:spcPct val="130000"/>
              </a:lnSpc>
              <a:defRPr sz="1400">
                <a:solidFill>
                  <a:srgbClr val="AAA59F"/>
                </a:solidFill>
                <a:latin typeface="DM Sans"/>
              </a:defRPr>
            </a:pPr>
            <a:r>
              <a:t>Har bir dizayn asosida avtomatik ravishda texnik varaqalar, ingredientlar ro'yxati va optimal ishlab chiqarish jadvallarini shakllantirish. Ma'muriy va qo'shimcha xarajatlar nolga tenglashadi.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1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8622B"/>
                </a:solidFill>
                <a:latin typeface="JetBrains Mono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AF7F2"/>
                </a:solidFill>
                <a:latin typeface="Playfair Display"/>
              </a:defRPr>
            </a:pPr>
            <a:r>
              <a:t>BIZNES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8622B"/>
                </a:solidFill>
                <a:latin typeface="Playfair Display"/>
              </a:defRPr>
            </a:pPr>
            <a:r>
              <a:t>O'zaro bog'liq va yuqori rentabelli uchta daromad oqimi.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00400" cy="3931920"/>
          </a:xfrm>
          <a:prstGeom prst="roundRect">
            <a:avLst/>
          </a:prstGeom>
          <a:solidFill>
            <a:srgbClr val="1C1B19"/>
          </a:solidFill>
          <a:ln w="19050">
            <a:solidFill>
              <a:srgbClr val="2E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100" b="1">
                <a:solidFill>
                  <a:srgbClr val="E8622B"/>
                </a:solidFill>
                <a:latin typeface="JetBrains Mono"/>
              </a:defRPr>
            </a:pPr>
            <a:r>
              <a:t>1. TRANZAKSION</a:t>
            </a:r>
          </a:p>
          <a:p>
            <a:pPr>
              <a:spcAft>
                <a:spcPts val="1500"/>
              </a:spcAft>
              <a:defRPr sz="1800" b="1">
                <a:solidFill>
                  <a:srgbClr val="FAF7F2"/>
                </a:solidFill>
                <a:latin typeface="Playfair Display"/>
              </a:defRPr>
            </a:pPr>
            <a:r>
              <a:t>Komissiya Modeli 💸</a:t>
            </a:r>
          </a:p>
          <a:p>
            <a:pPr>
              <a:lnSpc>
                <a:spcPct val="130000"/>
              </a:lnSpc>
              <a:defRPr sz="1200">
                <a:solidFill>
                  <a:srgbClr val="AAA59F"/>
                </a:solidFill>
                <a:latin typeface="DM Sans"/>
              </a:defRPr>
            </a:pPr>
            <a:r>
              <a:t>Sweets, cakes, confectionery: 10%</a:t>
            </a:r>
            <a:br/>
            <a:r>
              <a:t>Food sales: 5%</a:t>
            </a:r>
            <a:br/>
            <a:br/>
            <a:r>
              <a:t>O'rtacha buyurtma qiymati: $185</a:t>
            </a:r>
            <a:br/>
            <a:r>
              <a:t>(Konditerdan undiriladi)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28800"/>
            <a:ext cx="3200400" cy="3931920"/>
          </a:xfrm>
          <a:prstGeom prst="roundRect">
            <a:avLst/>
          </a:prstGeom>
          <a:solidFill>
            <a:srgbClr val="1C1B19"/>
          </a:solidFill>
          <a:ln w="19050">
            <a:solidFill>
              <a:srgbClr val="2E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100" b="1">
                <a:solidFill>
                  <a:srgbClr val="E8622B"/>
                </a:solidFill>
                <a:latin typeface="JetBrains Mono"/>
              </a:defRPr>
            </a:pPr>
            <a:r>
              <a:t>2. OBUNA (SAAS)</a:t>
            </a:r>
          </a:p>
          <a:p>
            <a:pPr>
              <a:spcAft>
                <a:spcPts val="1500"/>
              </a:spcAft>
              <a:defRPr sz="1800" b="1">
                <a:solidFill>
                  <a:srgbClr val="FAF7F2"/>
                </a:solidFill>
                <a:latin typeface="Playfair Display"/>
              </a:defRPr>
            </a:pPr>
            <a:r>
              <a:t>Konditer Pro Obunasi 💼</a:t>
            </a:r>
          </a:p>
          <a:p>
            <a:pPr>
              <a:lnSpc>
                <a:spcPct val="130000"/>
              </a:lnSpc>
              <a:defRPr sz="1200">
                <a:solidFill>
                  <a:srgbClr val="AAA59F"/>
                </a:solidFill>
                <a:latin typeface="DM Sans"/>
              </a:defRPr>
            </a:pPr>
            <a:r>
              <a:t>Konditerlar va sexlar uchun ilg'or panel, cheksiz 3D spetsifikatsiyalar va texnik varaqalar eksporti, chuqur tahliliy vositalar va ustuvor joylashtirish.</a:t>
            </a:r>
            <a:br/>
            <a:br/>
            <a:r>
              <a:t>Narxi: $49 / oy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00400" cy="3931920"/>
          </a:xfrm>
          <a:prstGeom prst="roundRect">
            <a:avLst/>
          </a:prstGeom>
          <a:solidFill>
            <a:srgbClr val="1C1B19"/>
          </a:solidFill>
          <a:ln w="19050">
            <a:solidFill>
              <a:srgbClr val="2E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100" b="1">
                <a:solidFill>
                  <a:srgbClr val="E8622B"/>
                </a:solidFill>
                <a:latin typeface="JetBrains Mono"/>
              </a:defRPr>
            </a:pPr>
            <a:r>
              <a:t>3. B2B KAMPANIYALAR</a:t>
            </a:r>
          </a:p>
          <a:p>
            <a:pPr>
              <a:spcAft>
                <a:spcPts val="1500"/>
              </a:spcAft>
              <a:defRPr sz="1800" b="1">
                <a:solidFill>
                  <a:srgbClr val="FAF7F2"/>
                </a:solidFill>
                <a:latin typeface="Playfair Display"/>
              </a:defRPr>
            </a:pPr>
            <a:r>
              <a:t>Brend Studio 🏢</a:t>
            </a:r>
          </a:p>
          <a:p>
            <a:pPr>
              <a:lnSpc>
                <a:spcPct val="130000"/>
              </a:lnSpc>
              <a:defRPr sz="1200">
                <a:solidFill>
                  <a:srgbClr val="AAA59F"/>
                </a:solidFill>
                <a:latin typeface="DM Sans"/>
              </a:defRPr>
            </a:pPr>
            <a:r>
              <a:t>Korporativ tadbirlar, to'ylar va yirik hashamatli brendlar uchun maxsus interaktiv 3D buyurtma va brendlashtirilgan immersiv tajribalar yaratish xizmati.</a:t>
            </a:r>
            <a:br/>
            <a:br/>
            <a:r>
              <a:t>Narxi: $2,000+ / loyiha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1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8622B"/>
                </a:solidFill>
                <a:latin typeface="JetBrains Mono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AF7F2"/>
                </a:solidFill>
                <a:latin typeface="Playfair Display"/>
              </a:defRPr>
            </a:pPr>
            <a:r>
              <a:t>BOZOR IMKONIYATI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8622B"/>
                </a:solidFill>
                <a:latin typeface="Playfair Display"/>
              </a:defRPr>
            </a:pPr>
            <a:r>
              <a:t>Cheksiz bozorni kengaytirish va raqamlashtirish.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00400" cy="3931920"/>
          </a:xfrm>
          <a:prstGeom prst="roundRect">
            <a:avLst/>
          </a:prstGeom>
          <a:solidFill>
            <a:srgbClr val="1C1B19"/>
          </a:solidFill>
          <a:ln w="19050">
            <a:solidFill>
              <a:srgbClr val="2E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8622B"/>
                </a:solidFill>
                <a:latin typeface="JetBrains Mono"/>
              </a:defRPr>
            </a:pPr>
            <a:r>
              <a:t>TAM</a:t>
            </a:r>
          </a:p>
          <a:p>
            <a:pPr>
              <a:spcAft>
                <a:spcPts val="2400"/>
              </a:spcAft>
              <a:defRPr sz="1800" b="1">
                <a:solidFill>
                  <a:srgbClr val="FAF7F2"/>
                </a:solidFill>
                <a:latin typeface="Playfair Display"/>
              </a:defRPr>
            </a:pPr>
            <a:r>
              <a:t>Umumiy Bozor</a:t>
            </a:r>
          </a:p>
          <a:p>
            <a:pPr>
              <a:spcAft>
                <a:spcPts val="2400"/>
              </a:spcAft>
              <a:defRPr sz="4000" b="1">
                <a:solidFill>
                  <a:srgbClr val="E8622B"/>
                </a:solidFill>
                <a:latin typeface="Playfair Display"/>
              </a:defRPr>
            </a:pPr>
            <a:r>
              <a:t>$2,285M</a:t>
            </a:r>
          </a:p>
          <a:p>
            <a:pPr>
              <a:defRPr sz="1200">
                <a:solidFill>
                  <a:srgbClr val="AAA59F"/>
                </a:solidFill>
                <a:latin typeface="DM Sans"/>
              </a:defRPr>
            </a:pPr>
            <a:r>
              <a:t>Global maxsus konditerlik mahsulotlari bozorining umumiy hajmi.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28800"/>
            <a:ext cx="3200400" cy="3931920"/>
          </a:xfrm>
          <a:prstGeom prst="roundRect">
            <a:avLst/>
          </a:prstGeom>
          <a:solidFill>
            <a:srgbClr val="1C1B19"/>
          </a:solidFill>
          <a:ln w="19050">
            <a:solidFill>
              <a:srgbClr val="2E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8622B"/>
                </a:solidFill>
                <a:latin typeface="JetBrains Mono"/>
              </a:defRPr>
            </a:pPr>
            <a:r>
              <a:t>SAM</a:t>
            </a:r>
          </a:p>
          <a:p>
            <a:pPr>
              <a:spcAft>
                <a:spcPts val="2400"/>
              </a:spcAft>
              <a:defRPr sz="1800" b="1">
                <a:solidFill>
                  <a:srgbClr val="FAF7F2"/>
                </a:solidFill>
                <a:latin typeface="Playfair Display"/>
              </a:defRPr>
            </a:pPr>
            <a:r>
              <a:t>Online Segment</a:t>
            </a:r>
          </a:p>
          <a:p>
            <a:pPr>
              <a:spcAft>
                <a:spcPts val="2400"/>
              </a:spcAft>
              <a:defRPr sz="4000" b="1">
                <a:solidFill>
                  <a:srgbClr val="E8622B"/>
                </a:solidFill>
                <a:latin typeface="Playfair Display"/>
              </a:defRPr>
            </a:pPr>
            <a:r>
              <a:t>$68M</a:t>
            </a:r>
          </a:p>
          <a:p>
            <a:pPr>
              <a:defRPr sz="1200">
                <a:solidFill>
                  <a:srgbClr val="AAA59F"/>
                </a:solidFill>
                <a:latin typeface="DM Sans"/>
              </a:defRPr>
            </a:pPr>
            <a:r>
              <a:t>Raqamli platformalar va onlayn buyurtmalar orqali qamrab olinadigan xizmat ko'rsatish bozori.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00400" cy="3931920"/>
          </a:xfrm>
          <a:prstGeom prst="roundRect">
            <a:avLst/>
          </a:prstGeom>
          <a:solidFill>
            <a:srgbClr val="1C1B19"/>
          </a:solidFill>
          <a:ln w="19050">
            <a:solidFill>
              <a:srgbClr val="2E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8622B"/>
                </a:solidFill>
                <a:latin typeface="JetBrains Mono"/>
              </a:defRPr>
            </a:pPr>
            <a:r>
              <a:t>SOM</a:t>
            </a:r>
          </a:p>
          <a:p>
            <a:pPr>
              <a:spcAft>
                <a:spcPts val="2400"/>
              </a:spcAft>
              <a:defRPr sz="1800" b="1">
                <a:solidFill>
                  <a:srgbClr val="FAF7F2"/>
                </a:solidFill>
                <a:latin typeface="Playfair Display"/>
              </a:defRPr>
            </a:pPr>
            <a:r>
              <a:t>3-Yillik Maqsad</a:t>
            </a:r>
          </a:p>
          <a:p>
            <a:pPr>
              <a:spcAft>
                <a:spcPts val="2400"/>
              </a:spcAft>
              <a:defRPr sz="4000" b="1">
                <a:solidFill>
                  <a:srgbClr val="E8622B"/>
                </a:solidFill>
                <a:latin typeface="Playfair Display"/>
              </a:defRPr>
            </a:pPr>
            <a:r>
              <a:t>$4.8M</a:t>
            </a:r>
          </a:p>
          <a:p>
            <a:pPr>
              <a:defRPr sz="1200">
                <a:solidFill>
                  <a:srgbClr val="AAA59F"/>
                </a:solidFill>
                <a:latin typeface="DM Sans"/>
              </a:defRPr>
            </a:pPr>
            <a:r>
              <a:t>Dastlabki 3 yilda platformamiz orqali egallash rejalashtirilgan real bozor ulushi.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1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8622B"/>
                </a:solidFill>
                <a:latin typeface="JetBrains Mono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AF7F2"/>
                </a:solidFill>
                <a:latin typeface="Playfair Display"/>
              </a:defRPr>
            </a:pPr>
            <a:r>
              <a:t>BOSQICHLAR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8622B"/>
                </a:solidFill>
                <a:latin typeface="Playfair Display"/>
              </a:defRPr>
            </a:pPr>
            <a:r>
              <a:t>Series A investitsiya bosqichigacha bo'lgan yo'l xaritasi.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560320"/>
            <a:ext cx="8534095" cy="45720"/>
          </a:xfrm>
          <a:prstGeom prst="rect">
            <a:avLst/>
          </a:prstGeom>
          <a:solidFill>
            <a:srgbClr val="E86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45920" y="2148840"/>
            <a:ext cx="914400" cy="914400"/>
          </a:xfrm>
          <a:prstGeom prst="ellipse">
            <a:avLst/>
          </a:prstGeom>
          <a:solidFill>
            <a:srgbClr val="E86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2110F"/>
                </a:solidFill>
                <a:latin typeface="JetBrains Mono"/>
              </a:defRPr>
            </a:pPr>
            <a:r>
              <a:t>Bugun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8622B"/>
                </a:solidFill>
                <a:latin typeface="JetBrains Mono"/>
              </a:defRPr>
            </a:pPr>
            <a:r>
              <a:t>Hozirgi Holat</a:t>
            </a:r>
          </a:p>
          <a:p>
            <a:pPr>
              <a:lnSpc>
                <a:spcPct val="130000"/>
              </a:lnSpc>
              <a:defRPr sz="1200">
                <a:solidFill>
                  <a:srgbClr val="AAA59F"/>
                </a:solidFill>
                <a:latin typeface="DM Sans"/>
              </a:defRPr>
            </a:pPr>
            <a:r>
              <a:t>Beta Tugallandi 🚀</a:t>
            </a:r>
            <a:br/>
            <a:r>
              <a:t>Platforma sinovlari muvaffaqiyatli yakunlandi va 3 ta faol hamkor/foydalanuvchi ulangan.</a:t>
            </a:r>
          </a:p>
        </p:txBody>
      </p:sp>
      <p:sp>
        <p:nvSpPr>
          <p:cNvPr id="8" name="Oval 7"/>
          <p:cNvSpPr/>
          <p:nvPr/>
        </p:nvSpPr>
        <p:spPr>
          <a:xfrm>
            <a:off x="4297680" y="2148840"/>
            <a:ext cx="914400" cy="914400"/>
          </a:xfrm>
          <a:prstGeom prst="ellipse">
            <a:avLst/>
          </a:prstGeom>
          <a:solidFill>
            <a:srgbClr val="1C1B19"/>
          </a:solidFill>
          <a:ln w="19050">
            <a:solidFill>
              <a:srgbClr val="E86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AF7F2"/>
                </a:solidFill>
                <a:latin typeface="JetBrains Mono"/>
              </a:defRPr>
            </a:pPr>
            <a:r>
              <a:t>T1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29184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8622B"/>
                </a:solidFill>
                <a:latin typeface="JetBrains Mono"/>
              </a:defRPr>
            </a:pPr>
            <a:r>
              <a:t>6-Oylik Maqsad</a:t>
            </a:r>
          </a:p>
          <a:p>
            <a:pPr>
              <a:lnSpc>
                <a:spcPct val="130000"/>
              </a:lnSpc>
              <a:defRPr sz="1200">
                <a:solidFill>
                  <a:srgbClr val="AAA59F"/>
                </a:solidFill>
                <a:latin typeface="DM Sans"/>
              </a:defRPr>
            </a:pPr>
            <a:r>
              <a:t>Kengayish 📈</a:t>
            </a:r>
            <a:br/>
            <a:r>
              <a:t>500 ta faol konditer ulanadi va oyiga $100K MRR ko'rsatkichiga erishiladi.</a:t>
            </a:r>
          </a:p>
        </p:txBody>
      </p:sp>
      <p:sp>
        <p:nvSpPr>
          <p:cNvPr id="10" name="Oval 9"/>
          <p:cNvSpPr/>
          <p:nvPr/>
        </p:nvSpPr>
        <p:spPr>
          <a:xfrm>
            <a:off x="6949440" y="2148840"/>
            <a:ext cx="914400" cy="914400"/>
          </a:xfrm>
          <a:prstGeom prst="ellipse">
            <a:avLst/>
          </a:prstGeom>
          <a:solidFill>
            <a:srgbClr val="1C1B19"/>
          </a:solidFill>
          <a:ln w="19050">
            <a:solidFill>
              <a:srgbClr val="E86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AF7F2"/>
                </a:solidFill>
                <a:latin typeface="JetBrains Mono"/>
              </a:defRPr>
            </a:pPr>
            <a:r>
              <a:t>T2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29184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8622B"/>
                </a:solidFill>
                <a:latin typeface="JetBrains Mono"/>
              </a:defRPr>
            </a:pPr>
            <a:r>
              <a:t>12-Oylik Maqsad</a:t>
            </a:r>
          </a:p>
          <a:p>
            <a:pPr>
              <a:lnSpc>
                <a:spcPct val="130000"/>
              </a:lnSpc>
              <a:defRPr sz="1200">
                <a:solidFill>
                  <a:srgbClr val="AAA59F"/>
                </a:solidFill>
                <a:latin typeface="DM Sans"/>
              </a:defRPr>
            </a:pPr>
            <a:r>
              <a:t>Bozor Yetakchiligi 🏆</a:t>
            </a:r>
            <a:br/>
            <a:r>
              <a:t>2,000 ta konditer jalb qilinadi va oyiga $500K MRR darajasiga erishiladi.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0" y="2148840"/>
            <a:ext cx="914400" cy="914400"/>
          </a:xfrm>
          <a:prstGeom prst="ellipse">
            <a:avLst/>
          </a:prstGeom>
          <a:solidFill>
            <a:srgbClr val="1C1B19"/>
          </a:solidFill>
          <a:ln w="19050">
            <a:solidFill>
              <a:srgbClr val="E86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AF7F2"/>
                </a:solidFill>
                <a:latin typeface="JetBrains Mono"/>
              </a:defRPr>
            </a:pPr>
            <a:r>
              <a:t>T3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29184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8622B"/>
                </a:solidFill>
                <a:latin typeface="JetBrains Mono"/>
              </a:defRPr>
            </a:pPr>
            <a:r>
              <a:t>Series A</a:t>
            </a:r>
          </a:p>
          <a:p>
            <a:pPr>
              <a:lnSpc>
                <a:spcPct val="130000"/>
              </a:lnSpc>
              <a:defRPr sz="1200">
                <a:solidFill>
                  <a:srgbClr val="AAA59F"/>
                </a:solidFill>
                <a:latin typeface="DM Sans"/>
              </a:defRPr>
            </a:pPr>
            <a:r>
              <a:t>Masshtab 🌐</a:t>
            </a:r>
            <a:br/>
            <a:r>
              <a:t>Milestone: 5,000 ta faol konditer tarmog'ini yaratish va global bozorga chiqish.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1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8622B"/>
                </a:solidFill>
                <a:latin typeface="JetBrains Mono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AF7F2"/>
                </a:solidFill>
                <a:latin typeface="Playfair Display"/>
              </a:defRPr>
            </a:pPr>
            <a:r>
              <a:t>JAMOA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8622B"/>
                </a:solidFill>
                <a:latin typeface="Playfair Display"/>
              </a:defRPr>
            </a:pPr>
            <a:r>
              <a:t>Bajarish va natijaga yo'naltirilgan, o'z hunarining fidoiylari.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407615" cy="3931920"/>
          </a:xfrm>
          <a:prstGeom prst="roundRect">
            <a:avLst/>
          </a:prstGeom>
          <a:solidFill>
            <a:srgbClr val="1C1B19"/>
          </a:solidFill>
          <a:ln w="19050">
            <a:solidFill>
              <a:srgbClr val="2E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lide8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230" y="2103120"/>
            <a:ext cx="1463040" cy="1463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3657600"/>
            <a:ext cx="222473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AF7F2"/>
                </a:solidFill>
                <a:latin typeface="Playfair Display"/>
              </a:defRPr>
            </a:pPr>
            <a:r>
              <a:t>Sardorbek Albakiev</a:t>
            </a:r>
          </a:p>
          <a:p>
            <a:pPr algn="ctr">
              <a:spcAft>
                <a:spcPts val="800"/>
              </a:spcAft>
              <a:defRPr sz="1100" b="1">
                <a:solidFill>
                  <a:srgbClr val="E8622B"/>
                </a:solidFill>
                <a:latin typeface="JetBrains Mono"/>
              </a:defRPr>
            </a:pPr>
            <a:r>
              <a:t>CEO / Loyiha Rahbari</a:t>
            </a:r>
          </a:p>
          <a:p>
            <a:pPr algn="ctr">
              <a:lnSpc>
                <a:spcPct val="120000"/>
              </a:lnSpc>
              <a:defRPr sz="1100">
                <a:solidFill>
                  <a:srgbClr val="AAA59F"/>
                </a:solidFill>
                <a:latin typeface="DM Sans"/>
              </a:defRPr>
            </a:pPr>
            <a:r>
              <a:t>Qurish va boshqarish bo'yicha 5 yillik tajribaga ega.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828800"/>
            <a:ext cx="2407615" cy="3931920"/>
          </a:xfrm>
          <a:prstGeom prst="roundRect">
            <a:avLst/>
          </a:prstGeom>
          <a:solidFill>
            <a:srgbClr val="1C1B19"/>
          </a:solidFill>
          <a:ln w="19050">
            <a:solidFill>
              <a:srgbClr val="2E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lide8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990" y="2103120"/>
            <a:ext cx="1463040" cy="1463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0" y="3657600"/>
            <a:ext cx="222473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AF7F2"/>
                </a:solidFill>
                <a:latin typeface="Playfair Display"/>
              </a:defRPr>
            </a:pPr>
            <a:r>
              <a:t>Stadnyuk Bogdan</a:t>
            </a:r>
          </a:p>
          <a:p>
            <a:pPr algn="ctr">
              <a:spcAft>
                <a:spcPts val="800"/>
              </a:spcAft>
              <a:defRPr sz="1100" b="1">
                <a:solidFill>
                  <a:srgbClr val="E8622B"/>
                </a:solidFill>
                <a:latin typeface="JetBrains Mono"/>
              </a:defRPr>
            </a:pPr>
            <a:r>
              <a:t>CTO / Bosh Dasturchi</a:t>
            </a:r>
          </a:p>
          <a:p>
            <a:pPr algn="ctr">
              <a:lnSpc>
                <a:spcPct val="120000"/>
              </a:lnSpc>
              <a:defRPr sz="1100">
                <a:solidFill>
                  <a:srgbClr val="AAA59F"/>
                </a:solidFill>
                <a:latin typeface="DM Sans"/>
              </a:defRPr>
            </a:pPr>
            <a:r>
              <a:t>3D Dvigatel (Three.js/WebGL) va grafik tizimlar mutaxassisi.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407615" cy="3931920"/>
          </a:xfrm>
          <a:prstGeom prst="roundRect">
            <a:avLst/>
          </a:prstGeom>
          <a:solidFill>
            <a:srgbClr val="1C1B19"/>
          </a:solidFill>
          <a:ln w="19050">
            <a:solidFill>
              <a:srgbClr val="2E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lide8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750" y="2103120"/>
            <a:ext cx="1463040" cy="1463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9360" y="3657600"/>
            <a:ext cx="222473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AF7F2"/>
                </a:solidFill>
                <a:latin typeface="Playfair Display"/>
              </a:defRPr>
            </a:pPr>
            <a:r>
              <a:t>Umidjon Odiljonov</a:t>
            </a:r>
          </a:p>
          <a:p>
            <a:pPr algn="ctr">
              <a:spcAft>
                <a:spcPts val="800"/>
              </a:spcAft>
              <a:defRPr sz="1100" b="1">
                <a:solidFill>
                  <a:srgbClr val="E8622B"/>
                </a:solidFill>
                <a:latin typeface="JetBrains Mono"/>
              </a:defRPr>
            </a:pPr>
            <a:r>
              <a:t>Biznes Analitik</a:t>
            </a:r>
          </a:p>
          <a:p>
            <a:pPr algn="ctr">
              <a:lnSpc>
                <a:spcPct val="120000"/>
              </a:lnSpc>
              <a:defRPr sz="1100">
                <a:solidFill>
                  <a:srgbClr val="AAA59F"/>
                </a:solidFill>
                <a:latin typeface="DM Sans"/>
              </a:defRPr>
            </a:pPr>
            <a:r>
              <a:t>O'sish strategiyalari va ma'lumotlar tahlili (Growth Hack) mutaxassisi.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828800"/>
            <a:ext cx="2407615" cy="3931920"/>
          </a:xfrm>
          <a:prstGeom prst="roundRect">
            <a:avLst/>
          </a:prstGeom>
          <a:solidFill>
            <a:srgbClr val="1C1B19"/>
          </a:solidFill>
          <a:ln w="19050">
            <a:solidFill>
              <a:srgbClr val="2E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lide8_img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1510" y="2103120"/>
            <a:ext cx="1463040" cy="1463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61120" y="3657600"/>
            <a:ext cx="222473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AF7F2"/>
                </a:solidFill>
                <a:latin typeface="Playfair Display"/>
              </a:defRPr>
            </a:pPr>
            <a:r>
              <a:t>Abdulloh M'amurov</a:t>
            </a:r>
          </a:p>
          <a:p>
            <a:pPr algn="ctr">
              <a:spcAft>
                <a:spcPts val="800"/>
              </a:spcAft>
              <a:defRPr sz="1100" b="1">
                <a:solidFill>
                  <a:srgbClr val="E8622B"/>
                </a:solidFill>
                <a:latin typeface="JetBrains Mono"/>
              </a:defRPr>
            </a:pPr>
            <a:r>
              <a:t>UI / UX Designer</a:t>
            </a:r>
          </a:p>
          <a:p>
            <a:pPr algn="ctr">
              <a:lnSpc>
                <a:spcPct val="120000"/>
              </a:lnSpc>
              <a:defRPr sz="1100">
                <a:solidFill>
                  <a:srgbClr val="AAA59F"/>
                </a:solidFill>
                <a:latin typeface="DM Sans"/>
              </a:defRPr>
            </a:pPr>
            <a:r>
              <a:t>Vizual brending va mahsulot dizayni bo'yicha 1 yillik tajriba.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494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DM Sans</vt:lpstr>
      <vt:lpstr>JetBrains Mono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sardorbek albakiev</cp:lastModifiedBy>
  <cp:revision>2</cp:revision>
  <dcterms:created xsi:type="dcterms:W3CDTF">2013-01-27T09:14:16Z</dcterms:created>
  <dcterms:modified xsi:type="dcterms:W3CDTF">2026-06-05T12:48:26Z</dcterms:modified>
  <cp:category/>
</cp:coreProperties>
</file>